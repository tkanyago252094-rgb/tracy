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7290A-A913-4662-9115-DBBA46987486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19901-3ABC-40F2-8184-956547C7B908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25680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19901-3ABC-40F2-8184-956547C7B908}" type="slidenum">
              <a:rPr lang="en-UG" smtClean="0"/>
              <a:t>4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60615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1F74-FEE3-FEC9-A3F2-FA48FFD51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2482D-5224-5369-5E19-BDD2240BD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289DC-5177-B041-530F-0018ECA40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CF5-1EC1-4AFE-904E-33CA3BA4AF47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80D71-0293-62E7-DB58-12F994CF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66543-64FC-7D5A-4000-6165EE4D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A296E-B8C2-4363-BAD5-628D2C2B3A3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771799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8198E-FC89-FB98-98FE-9DAF3701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8104D-14E9-C98E-9816-BB0EDD680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5418E-FC68-F771-FC3E-AA36D55A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CF5-1EC1-4AFE-904E-33CA3BA4AF47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59A5E-7256-3A83-0AB1-9238FC261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A60F7-CC5F-C034-79C8-5C1BC266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A296E-B8C2-4363-BAD5-628D2C2B3A3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250061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26E8-4C45-05EA-D948-C95E9CE5D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E5792-FB4E-4F34-EC4E-352A34B45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F3D3A-D73B-F741-1221-F3BE0BCCC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CF5-1EC1-4AFE-904E-33CA3BA4AF47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849BE-A0FA-5B08-CCC7-637F0C056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7542B-B2DC-D673-62C4-054BBC09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A296E-B8C2-4363-BAD5-628D2C2B3A3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081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A5AA-8172-C3C0-9254-4DCC2178A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D3896-BF9B-4E4C-3B5A-1A9C32D6F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61513-6506-FD9D-9BB7-2690EE14C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D970D-AD9B-F999-FDAC-65D50B642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CF5-1EC1-4AFE-904E-33CA3BA4AF47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1FD3E-08E7-F9FD-2594-88974CC53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E64BE-F501-4F87-F01A-B69C9810B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A296E-B8C2-4363-BAD5-628D2C2B3A3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9564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25D69-3642-6BCA-194F-4187AED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30B8D-CDDB-6415-8BC7-7577C9F96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68E12-E822-FF1E-77C6-F2DB6C0F2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2CD84-6BB5-D8A6-E021-E125F9CD1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684C6-D331-EEB4-2E97-919B81E8C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51B32-D803-5389-1BA3-08B588C71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CF5-1EC1-4AFE-904E-33CA3BA4AF47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0757E3-BE8A-3DA1-E92B-F002E574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7DA4E5-207D-0DF0-64C2-EE4B4271A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A296E-B8C2-4363-BAD5-628D2C2B3A3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864333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3D69-0B26-47AC-2DE7-BADD9C00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318BC6-6BEA-9E46-2959-FC81EC069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CF5-1EC1-4AFE-904E-33CA3BA4AF47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38FEDF-2009-E57C-4880-0DC17171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E527E-2275-E691-BDCF-D41593B9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A296E-B8C2-4363-BAD5-628D2C2B3A3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83218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862488-3FDD-A381-0A8B-D1FDA7708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CF5-1EC1-4AFE-904E-33CA3BA4AF47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44D84D-5BC0-387C-7CFA-7B9FB098E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512C7-7B6F-AF27-541F-ED0BAA49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A296E-B8C2-4363-BAD5-628D2C2B3A3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91614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315D9-BE23-6EF9-B612-993F4DA4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8B2BA-623D-0AB7-B841-2FC9A0C38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3EB50-8E9D-1072-E381-D4ABEE1EC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AC6F0-7016-67F1-7ABB-F702743B6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CF5-1EC1-4AFE-904E-33CA3BA4AF47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FA09A-29D3-3042-92FC-797901AF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692E1-9BC1-16C9-8FD0-206B54417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A296E-B8C2-4363-BAD5-628D2C2B3A3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115879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451E7-F5D2-8C4E-DCAD-F66C18117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B169A5-1D61-80BA-C63D-05249E526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18AD7-5D15-A6FA-08B8-C92486799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D92DB-7340-5770-772B-740908E46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CF5-1EC1-4AFE-904E-33CA3BA4AF47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F55FB-7260-D052-9E6D-8C96F45E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0D76D-A160-F519-0CE2-0B6B754C9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A296E-B8C2-4363-BAD5-628D2C2B3A3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8809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520B7-7DF6-CE93-834B-2F5EC96ED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BD1B9-8AF9-CF07-69A7-1A0985EE9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8F12E-78D8-FF17-3B6D-BEFA5B795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CF5-1EC1-4AFE-904E-33CA3BA4AF47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356EC-1182-1AC7-A031-BED47DFB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6D794-19F8-6AF8-7A69-349E0750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A296E-B8C2-4363-BAD5-628D2C2B3A3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6507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4A16E-192C-62A0-2E5C-D15CEBD3D2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566F7-2564-87D2-12AB-57EF328A8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B3C0C-2B07-DCCC-A845-2C3A1B900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16CF5-1EC1-4AFE-904E-33CA3BA4AF47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82B7A-1E58-2628-328A-DA37E987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A8C73-1C3F-4491-F6BC-3FA4F88FC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A296E-B8C2-4363-BAD5-628D2C2B3A3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7416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FB18-0829-15D8-1022-6AE6F978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256CC-738B-FA43-E789-30500A41A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B6593-9DB0-6A33-2895-840081A13E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16CF5-1EC1-4AFE-904E-33CA3BA4AF47}" type="datetimeFigureOut">
              <a:rPr lang="en-UG" smtClean="0"/>
              <a:t>29/09/2026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938D7-602D-EE71-D851-2B5D2F68E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88C4C-EFDC-ACEC-C790-192B014C2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8A296E-B8C2-4363-BAD5-628D2C2B3A3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104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FE87-6D79-EEA8-5E44-95E682292A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G" b="1" u="sng" dirty="0"/>
              <a:t>MATLAB ASSIGNMENT</a:t>
            </a:r>
            <a:br>
              <a:rPr lang="en-UG" dirty="0"/>
            </a:br>
            <a:r>
              <a:rPr lang="en-UG" b="1" dirty="0"/>
              <a:t> </a:t>
            </a:r>
            <a:br>
              <a:rPr lang="en-UG" dirty="0"/>
            </a:br>
            <a:endParaRPr lang="en-UG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237A4-4C6E-7265-2A3A-345E4CD81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G" b="1" dirty="0"/>
              <a:t> Newton-Raphson methods, Secant and Runge-</a:t>
            </a:r>
            <a:r>
              <a:rPr lang="en-UG" b="1" dirty="0" err="1"/>
              <a:t>Kutta</a:t>
            </a:r>
            <a:r>
              <a:rPr lang="en-UG" b="1" dirty="0"/>
              <a:t> methods: FOR and WHILE loop solutions,</a:t>
            </a:r>
            <a:r>
              <a:rPr lang="en-US" b="1" dirty="0"/>
              <a:t> </a:t>
            </a:r>
            <a:r>
              <a:rPr lang="en-UG" b="1" dirty="0"/>
              <a:t>flowcharts and pseudocode</a:t>
            </a:r>
            <a:endParaRPr lang="en-UG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73205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880F4-D7B3-8B0E-D8EC-FA1377F4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G" b="1" u="sng" dirty="0"/>
              <a:t>NEWTON-RAPHSON METHOD</a:t>
            </a:r>
            <a:br>
              <a:rPr lang="en-UG" dirty="0"/>
            </a:br>
            <a:endParaRPr lang="en-UG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465AD-A488-6C35-45DC-6DA1FAAEA7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G" sz="900" b="1" dirty="0"/>
              <a:t>Formula: x(n+1) = x(n) - f(x(n)) / f'(x(n))</a:t>
            </a:r>
            <a:endParaRPr lang="en-UG" sz="900" dirty="0"/>
          </a:p>
          <a:p>
            <a:r>
              <a:rPr lang="en-UG" sz="900" b="1" dirty="0"/>
              <a:t>Flowchart</a:t>
            </a:r>
            <a:endParaRPr lang="en-US" sz="900" b="1" dirty="0"/>
          </a:p>
          <a:p>
            <a:r>
              <a:rPr lang="en-UG" sz="900" b="1" u="sng" dirty="0"/>
              <a:t>PSEUDOCODE</a:t>
            </a:r>
            <a:r>
              <a:rPr lang="en-US" sz="900" b="1" u="sng" dirty="0"/>
              <a:t> FOR LOOP</a:t>
            </a:r>
            <a:r>
              <a:rPr lang="en-UG" sz="900" b="1" u="sng" dirty="0"/>
              <a:t>:</a:t>
            </a:r>
            <a:r>
              <a:rPr lang="en-US" sz="900" b="1" u="sng" dirty="0"/>
              <a:t>  </a:t>
            </a:r>
            <a:r>
              <a:rPr lang="en-US" sz="900" b="1" dirty="0"/>
              <a:t>                         </a:t>
            </a:r>
            <a:r>
              <a:rPr lang="en-US" sz="900" b="1" u="sng" dirty="0"/>
              <a:t>PSEUDOCODE-WHILE LOOP:</a:t>
            </a:r>
            <a:r>
              <a:rPr lang="en-US" sz="900" b="1" dirty="0"/>
              <a:t>                            </a:t>
            </a:r>
            <a:endParaRPr lang="en-UG" sz="900" dirty="0"/>
          </a:p>
          <a:p>
            <a:endParaRPr lang="en-UG" dirty="0"/>
          </a:p>
        </p:txBody>
      </p:sp>
      <p:pic>
        <p:nvPicPr>
          <p:cNvPr id="5" name="fc2" descr="Newton-Raphson Method flowchart" title="Flowchart">
            <a:extLst>
              <a:ext uri="{FF2B5EF4-FFF2-40B4-BE49-F238E27FC236}">
                <a16:creationId xmlns:a16="http://schemas.microsoft.com/office/drawing/2014/main" id="{03213837-A9AD-4E4F-991D-4313A30B4B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42187" y="1825625"/>
            <a:ext cx="3173625" cy="4351338"/>
          </a:xfrm>
          <a:prstGeom prst="rect">
            <a:avLst/>
          </a:prstGeom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95D3DDBD-FB5C-5344-D655-5B4BDCB81826}"/>
              </a:ext>
            </a:extLst>
          </p:cNvPr>
          <p:cNvSpPr txBox="1"/>
          <p:nvPr/>
        </p:nvSpPr>
        <p:spPr>
          <a:xfrm>
            <a:off x="5142271" y="2550980"/>
            <a:ext cx="3309046" cy="2748608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INPUT: </a:t>
            </a:r>
            <a:r>
              <a:rPr lang="en-UG" sz="1050" dirty="0" err="1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initial_guess</a:t>
            </a: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x0=3, </a:t>
            </a:r>
            <a:r>
              <a:rPr lang="en-UG" sz="1050" dirty="0" err="1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max_iterations</a:t>
            </a: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N=20, </a:t>
            </a:r>
            <a:r>
              <a:rPr lang="en-UG" sz="1050" dirty="0" err="1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tol</a:t>
            </a: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=1e-5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FOR </a:t>
            </a:r>
            <a:r>
              <a:rPr lang="en-UG" sz="1050" dirty="0" err="1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</a:t>
            </a: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FROM 1 TO N DO: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G" sz="1050" dirty="0" err="1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fx</a:t>
            </a: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f(x0)         // x^2 - 4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G" sz="1050" dirty="0" err="1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dfx</a:t>
            </a: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f'(x0)       // 2x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IF </a:t>
            </a:r>
            <a:r>
              <a:rPr lang="en-UG" sz="1050" dirty="0" err="1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dfx</a:t>
            </a: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== 0 THEN: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PRINT "Error: Derivative is zero"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    STOP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END IF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x1 = x0 - (</a:t>
            </a:r>
            <a:r>
              <a:rPr lang="en-UG" sz="1050" dirty="0" err="1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fx</a:t>
            </a: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/ </a:t>
            </a:r>
            <a:r>
              <a:rPr lang="en-UG" sz="1050" dirty="0" err="1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dfx</a:t>
            </a: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PRINT "Iteration", </a:t>
            </a:r>
            <a:r>
              <a:rPr lang="en-UG" sz="1050" dirty="0" err="1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</a:t>
            </a: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, ": x =", x1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IF ABS(x1 - x0) &lt; </a:t>
            </a:r>
            <a:r>
              <a:rPr lang="en-UG" sz="1050" dirty="0" err="1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tol</a:t>
            </a: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THEN BREAK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x0 = x1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 FOR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OUTPUT: x1  A// 2.00000</a:t>
            </a:r>
          </a:p>
          <a:p>
            <a:pPr>
              <a:lnSpc>
                <a:spcPct val="115000"/>
              </a:lnSpc>
              <a:buNone/>
            </a:pPr>
            <a:r>
              <a:rPr lang="en-UG" sz="1050" dirty="0">
                <a:effectLst/>
                <a:latin typeface="Helvetica" panose="020B0604020202020204" pitchFamily="34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9E175379-C624-EAEF-59D3-3BF69F816ED2}"/>
              </a:ext>
            </a:extLst>
          </p:cNvPr>
          <p:cNvSpPr txBox="1"/>
          <p:nvPr/>
        </p:nvSpPr>
        <p:spPr>
          <a:xfrm>
            <a:off x="8577776" y="2703871"/>
            <a:ext cx="3230766" cy="2517058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INPUT: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initial_guess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x0=3,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tol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=1e-5,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max_iter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=20</a:t>
            </a:r>
            <a:endParaRPr lang="en-UG" sz="105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SET err = 1, count = 0,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x_while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x0</a:t>
            </a:r>
            <a:endParaRPr lang="en-UG" sz="105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WHILE err &gt;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tol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AND count &lt;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max_iter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DO:</a:t>
            </a:r>
            <a:endParaRPr lang="en-UG" sz="105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fx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f(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x_while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  <a:endParaRPr lang="en-UG" sz="105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dfx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f'(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x_while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  <a:endParaRPr lang="en-UG" sz="105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IF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dfx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== 0 THEN STOP</a:t>
            </a:r>
            <a:endParaRPr lang="en-UG" sz="105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x1 =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x_while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-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fx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/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dfx</a:t>
            </a:r>
            <a:endParaRPr lang="en-UG" sz="105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err = ABS(x1 -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x_while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)</a:t>
            </a:r>
            <a:endParaRPr lang="en-UG" sz="105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PRINT "Iteration", count, ": x =", x1</a:t>
            </a:r>
            <a:endParaRPr lang="en-UG" sz="105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x_while</a:t>
            </a: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= x1</a:t>
            </a:r>
            <a:endParaRPr lang="en-UG" sz="105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count = count + 1</a:t>
            </a:r>
            <a:endParaRPr lang="en-UG" sz="105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 WHILE</a:t>
            </a:r>
            <a:endParaRPr lang="en-UG" sz="105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 dirty="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OUTPUT: </a:t>
            </a:r>
            <a:r>
              <a:rPr lang="en-UG" sz="1000" dirty="0" err="1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x_while</a:t>
            </a:r>
            <a:endParaRPr lang="en-UG" sz="1050" dirty="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14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DD614-F484-75D7-0CE1-5F2700358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NEWTON-RAPHSON METHOD </a:t>
            </a:r>
            <a:r>
              <a:rPr lang="en-US" sz="2000" b="1" u="sng" dirty="0"/>
              <a:t>EXAMPLE1: </a:t>
            </a:r>
            <a:r>
              <a:rPr lang="en-UG" dirty="0"/>
              <a:t>: </a:t>
            </a:r>
            <a:r>
              <a:rPr lang="en-UG" sz="2400" dirty="0"/>
              <a:t>f(x) = x^2 - 4, f'(x) = 2x</a:t>
            </a:r>
            <a:br>
              <a:rPr lang="en-UG" dirty="0"/>
            </a:br>
            <a:endParaRPr lang="en-UG" sz="20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08489-D80C-6618-D304-74CAE931A4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300" b="1" u="sng" dirty="0"/>
              <a:t>MATLAB CODE: FOR LOOP</a:t>
            </a:r>
          </a:p>
          <a:p>
            <a:r>
              <a:rPr lang="en-UG" sz="1900" dirty="0"/>
              <a:t>%% SECTION 1: NEWTON-RAPHSON METHOD</a:t>
            </a:r>
          </a:p>
          <a:p>
            <a:r>
              <a:rPr lang="en-UG" sz="1900" dirty="0"/>
              <a:t>% Example function: f(x) = x^2 - 4, f'(x) = 2x</a:t>
            </a:r>
          </a:p>
          <a:p>
            <a:r>
              <a:rPr lang="en-UG" sz="1900" dirty="0" err="1"/>
              <a:t>f_nr</a:t>
            </a:r>
            <a:r>
              <a:rPr lang="en-UG" sz="1900" dirty="0"/>
              <a:t> = @(x) x^2 - 4;</a:t>
            </a:r>
          </a:p>
          <a:p>
            <a:r>
              <a:rPr lang="en-UG" sz="1900" dirty="0" err="1"/>
              <a:t>df_nr</a:t>
            </a:r>
            <a:r>
              <a:rPr lang="en-UG" sz="1900" dirty="0"/>
              <a:t> = @(x) 2*x;</a:t>
            </a:r>
          </a:p>
          <a:p>
            <a:r>
              <a:rPr lang="en-UG" sz="1900" dirty="0"/>
              <a:t>x0 = 3; </a:t>
            </a:r>
            <a:r>
              <a:rPr lang="en-UG" sz="1900" dirty="0" err="1"/>
              <a:t>tol</a:t>
            </a:r>
            <a:r>
              <a:rPr lang="en-UG" sz="1900" dirty="0"/>
              <a:t> = 1e-5; </a:t>
            </a:r>
            <a:r>
              <a:rPr lang="en-UG" sz="1900" dirty="0" err="1"/>
              <a:t>max_iter</a:t>
            </a:r>
            <a:r>
              <a:rPr lang="en-UG" sz="1900" dirty="0"/>
              <a:t> = 20;</a:t>
            </a:r>
          </a:p>
          <a:p>
            <a:r>
              <a:rPr lang="en-UG" sz="1900" dirty="0"/>
              <a:t> </a:t>
            </a:r>
          </a:p>
          <a:p>
            <a:r>
              <a:rPr lang="en-UG" sz="1900" dirty="0"/>
              <a:t>% Newton-Raphson using FOR loop</a:t>
            </a:r>
          </a:p>
          <a:p>
            <a:r>
              <a:rPr lang="en-UG" sz="1900" dirty="0" err="1"/>
              <a:t>x_for</a:t>
            </a:r>
            <a:r>
              <a:rPr lang="en-UG" sz="1900" dirty="0"/>
              <a:t> = x0;</a:t>
            </a:r>
          </a:p>
          <a:p>
            <a:r>
              <a:rPr lang="en-UG" sz="1900" dirty="0"/>
              <a:t>for </a:t>
            </a:r>
            <a:r>
              <a:rPr lang="en-UG" sz="1900" dirty="0" err="1"/>
              <a:t>i</a:t>
            </a:r>
            <a:r>
              <a:rPr lang="en-UG" sz="1900" dirty="0"/>
              <a:t> = 1:max_iter</a:t>
            </a:r>
          </a:p>
          <a:p>
            <a:r>
              <a:rPr lang="en-UG" sz="1900" dirty="0"/>
              <a:t>    </a:t>
            </a:r>
            <a:r>
              <a:rPr lang="en-UG" sz="1900" dirty="0" err="1"/>
              <a:t>x_for</a:t>
            </a:r>
            <a:r>
              <a:rPr lang="en-UG" sz="1900" dirty="0"/>
              <a:t> = </a:t>
            </a:r>
            <a:r>
              <a:rPr lang="en-UG" sz="1900" dirty="0" err="1"/>
              <a:t>x_for</a:t>
            </a:r>
            <a:r>
              <a:rPr lang="en-UG" sz="1900" dirty="0"/>
              <a:t> - </a:t>
            </a:r>
            <a:r>
              <a:rPr lang="en-UG" sz="1900" dirty="0" err="1"/>
              <a:t>f_nr</a:t>
            </a:r>
            <a:r>
              <a:rPr lang="en-UG" sz="1900" dirty="0"/>
              <a:t>(</a:t>
            </a:r>
            <a:r>
              <a:rPr lang="en-UG" sz="1900" dirty="0" err="1"/>
              <a:t>x_for</a:t>
            </a:r>
            <a:r>
              <a:rPr lang="en-UG" sz="1900" dirty="0"/>
              <a:t>)/</a:t>
            </a:r>
            <a:r>
              <a:rPr lang="en-UG" sz="1900" dirty="0" err="1"/>
              <a:t>df_nr</a:t>
            </a:r>
            <a:r>
              <a:rPr lang="en-UG" sz="1900" dirty="0"/>
              <a:t>(</a:t>
            </a:r>
            <a:r>
              <a:rPr lang="en-UG" sz="1900" dirty="0" err="1"/>
              <a:t>x_for</a:t>
            </a:r>
            <a:r>
              <a:rPr lang="en-UG" sz="1900" dirty="0"/>
              <a:t>);</a:t>
            </a:r>
          </a:p>
          <a:p>
            <a:r>
              <a:rPr lang="en-UG" sz="1900" dirty="0"/>
              <a:t>end</a:t>
            </a:r>
          </a:p>
          <a:p>
            <a:r>
              <a:rPr lang="en-UG" sz="1900" dirty="0" err="1"/>
              <a:t>fprintf</a:t>
            </a:r>
            <a:r>
              <a:rPr lang="en-UG" sz="1900" dirty="0"/>
              <a:t>('NR (for loop) Root: %.5f\n', </a:t>
            </a:r>
            <a:r>
              <a:rPr lang="en-UG" sz="1900" dirty="0" err="1"/>
              <a:t>x_for</a:t>
            </a:r>
            <a:r>
              <a:rPr lang="en-UG" sz="1900" dirty="0"/>
              <a:t>);</a:t>
            </a:r>
          </a:p>
          <a:p>
            <a:endParaRPr lang="en-UG" sz="1050" b="1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19081-2FF2-5492-0539-33F28F7857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b="1" u="sng" dirty="0"/>
              <a:t>MATLAB CODE: WHILE LOOP</a:t>
            </a:r>
          </a:p>
          <a:p>
            <a:r>
              <a:rPr lang="en-UG" sz="1800" dirty="0"/>
              <a:t>% Newton-Raphson using WHILE loop</a:t>
            </a:r>
          </a:p>
          <a:p>
            <a:r>
              <a:rPr lang="en-UG" sz="1800" dirty="0" err="1"/>
              <a:t>x_while</a:t>
            </a:r>
            <a:r>
              <a:rPr lang="en-UG" sz="1800" dirty="0"/>
              <a:t> = x0; err = 1; count = 0;</a:t>
            </a:r>
          </a:p>
          <a:p>
            <a:r>
              <a:rPr lang="en-UG" sz="1800" dirty="0"/>
              <a:t>while err &gt; </a:t>
            </a:r>
            <a:r>
              <a:rPr lang="en-UG" sz="1800" dirty="0" err="1"/>
              <a:t>tol</a:t>
            </a:r>
            <a:r>
              <a:rPr lang="en-UG" sz="1800" dirty="0"/>
              <a:t> &amp;&amp; count &lt; </a:t>
            </a:r>
            <a:r>
              <a:rPr lang="en-UG" sz="1800" dirty="0" err="1"/>
              <a:t>max_iter</a:t>
            </a:r>
            <a:endParaRPr lang="en-UG" sz="1800" dirty="0"/>
          </a:p>
          <a:p>
            <a:r>
              <a:rPr lang="en-UG" sz="1800" dirty="0"/>
              <a:t>    </a:t>
            </a:r>
            <a:r>
              <a:rPr lang="en-UG" sz="1800" dirty="0" err="1"/>
              <a:t>x_new</a:t>
            </a:r>
            <a:r>
              <a:rPr lang="en-UG" sz="1800" dirty="0"/>
              <a:t> = </a:t>
            </a:r>
            <a:r>
              <a:rPr lang="en-UG" sz="1800" dirty="0" err="1"/>
              <a:t>x_while</a:t>
            </a:r>
            <a:r>
              <a:rPr lang="en-UG" sz="1800" dirty="0"/>
              <a:t> - </a:t>
            </a:r>
            <a:r>
              <a:rPr lang="en-UG" sz="1800" dirty="0" err="1"/>
              <a:t>f_nr</a:t>
            </a:r>
            <a:r>
              <a:rPr lang="en-UG" sz="1800" dirty="0"/>
              <a:t>(</a:t>
            </a:r>
            <a:r>
              <a:rPr lang="en-UG" sz="1800" dirty="0" err="1"/>
              <a:t>x_while</a:t>
            </a:r>
            <a:r>
              <a:rPr lang="en-UG" sz="1800" dirty="0"/>
              <a:t>)/</a:t>
            </a:r>
            <a:r>
              <a:rPr lang="en-UG" sz="1800" dirty="0" err="1"/>
              <a:t>df_nr</a:t>
            </a:r>
            <a:r>
              <a:rPr lang="en-UG" sz="1800" dirty="0"/>
              <a:t>(</a:t>
            </a:r>
            <a:r>
              <a:rPr lang="en-UG" sz="1800" dirty="0" err="1"/>
              <a:t>x_while</a:t>
            </a:r>
            <a:r>
              <a:rPr lang="en-UG" sz="1800" dirty="0"/>
              <a:t>);</a:t>
            </a:r>
          </a:p>
          <a:p>
            <a:r>
              <a:rPr lang="en-UG" sz="1800" dirty="0"/>
              <a:t>    err = abs(</a:t>
            </a:r>
            <a:r>
              <a:rPr lang="en-UG" sz="1800" dirty="0" err="1"/>
              <a:t>x_new</a:t>
            </a:r>
            <a:r>
              <a:rPr lang="en-UG" sz="1800" dirty="0"/>
              <a:t> - </a:t>
            </a:r>
            <a:r>
              <a:rPr lang="en-UG" sz="1800" dirty="0" err="1"/>
              <a:t>x_while</a:t>
            </a:r>
            <a:r>
              <a:rPr lang="en-UG" sz="1800" dirty="0"/>
              <a:t>);</a:t>
            </a:r>
          </a:p>
          <a:p>
            <a:r>
              <a:rPr lang="en-UG" sz="1800" dirty="0"/>
              <a:t>    </a:t>
            </a:r>
            <a:r>
              <a:rPr lang="en-UG" sz="1800" dirty="0" err="1"/>
              <a:t>x_while</a:t>
            </a:r>
            <a:r>
              <a:rPr lang="en-UG" sz="1800" dirty="0"/>
              <a:t> = </a:t>
            </a:r>
            <a:r>
              <a:rPr lang="en-UG" sz="1800" dirty="0" err="1"/>
              <a:t>x_new</a:t>
            </a:r>
            <a:r>
              <a:rPr lang="en-UG" sz="1800" dirty="0"/>
              <a:t>;</a:t>
            </a:r>
          </a:p>
          <a:p>
            <a:r>
              <a:rPr lang="en-UG" sz="1800" dirty="0"/>
              <a:t>    count = count + 1;</a:t>
            </a:r>
          </a:p>
          <a:p>
            <a:r>
              <a:rPr lang="en-UG" sz="1800" dirty="0"/>
              <a:t>end</a:t>
            </a:r>
          </a:p>
          <a:p>
            <a:r>
              <a:rPr lang="en-UG" sz="1800" dirty="0" err="1"/>
              <a:t>fprintf</a:t>
            </a:r>
            <a:r>
              <a:rPr lang="en-UG" sz="1800" dirty="0"/>
              <a:t>('NR (while loop) Root: %.5f in %d iterations\n\n', </a:t>
            </a:r>
            <a:r>
              <a:rPr lang="en-UG" sz="1800" dirty="0" err="1"/>
              <a:t>x_while</a:t>
            </a:r>
            <a:r>
              <a:rPr lang="en-UG" sz="1800" dirty="0"/>
              <a:t>, count);</a:t>
            </a:r>
          </a:p>
          <a:p>
            <a:endParaRPr lang="en-UG" sz="12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9C727-BBDC-3B98-C856-B1865A1855A9}"/>
              </a:ext>
            </a:extLst>
          </p:cNvPr>
          <p:cNvSpPr txBox="1"/>
          <p:nvPr/>
        </p:nvSpPr>
        <p:spPr>
          <a:xfrm>
            <a:off x="1151164" y="6176963"/>
            <a:ext cx="7192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G" dirty="0"/>
              <a:t>Root: 2.00000 in 5 iterations</a:t>
            </a:r>
          </a:p>
        </p:txBody>
      </p:sp>
    </p:spTree>
    <p:extLst>
      <p:ext uri="{BB962C8B-B14F-4D97-AF65-F5344CB8AC3E}">
        <p14:creationId xmlns:p14="http://schemas.microsoft.com/office/powerpoint/2010/main" val="127153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AEE9-6582-B240-ECF8-1794883D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G" sz="3600" b="1" u="sng" dirty="0"/>
              <a:t>SECANT METHOD</a:t>
            </a:r>
            <a:br>
              <a:rPr lang="en-UG" dirty="0"/>
            </a:br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5F155-804A-2696-49BC-DC744EBF7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07920" y="1027906"/>
            <a:ext cx="8395609" cy="5066620"/>
          </a:xfrm>
        </p:spPr>
        <p:txBody>
          <a:bodyPr/>
          <a:lstStyle/>
          <a:p>
            <a:r>
              <a:rPr lang="en-UG" sz="1400" b="1" dirty="0"/>
              <a:t>Formula: x(n+1) = x(n) - f(x(n)) [x(n) - x(n-1)] / [f(x(n)) - f(x(n-1)</a:t>
            </a:r>
            <a:r>
              <a:rPr lang="en-UG" sz="1400" b="1" u="sng" dirty="0"/>
              <a:t>)]</a:t>
            </a:r>
            <a:endParaRPr lang="en-UG" sz="1400" u="sng" dirty="0"/>
          </a:p>
          <a:p>
            <a:r>
              <a:rPr lang="en-US" sz="1200" u="sng" dirty="0"/>
              <a:t>P</a:t>
            </a:r>
            <a:r>
              <a:rPr lang="en-US" sz="1200" b="1" u="sng" dirty="0"/>
              <a:t>SEUDOCODE: For loop    </a:t>
            </a:r>
            <a:r>
              <a:rPr lang="en-US" sz="1200" b="1" dirty="0"/>
              <a:t>                                                      </a:t>
            </a:r>
            <a:r>
              <a:rPr lang="en-US" sz="1200" b="1" u="sng" dirty="0"/>
              <a:t>PSEUDOCODE: While loop</a:t>
            </a:r>
          </a:p>
          <a:p>
            <a:endParaRPr lang="en-US" sz="1200" b="1" u="sng" dirty="0"/>
          </a:p>
          <a:p>
            <a:endParaRPr lang="en-US" sz="1200" b="1" dirty="0"/>
          </a:p>
          <a:p>
            <a:endParaRPr lang="en-UG" sz="1200" dirty="0"/>
          </a:p>
        </p:txBody>
      </p:sp>
      <p:pic>
        <p:nvPicPr>
          <p:cNvPr id="5" name="fc0" descr="Secant Method flowchart" title="Flowchart">
            <a:extLst>
              <a:ext uri="{FF2B5EF4-FFF2-40B4-BE49-F238E27FC236}">
                <a16:creationId xmlns:a16="http://schemas.microsoft.com/office/drawing/2014/main" id="{5FAF87F4-A1E4-0B81-FF9E-34456B2FFB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718460" y="1253331"/>
            <a:ext cx="2669720" cy="4351338"/>
          </a:xfrm>
          <a:prstGeom prst="rect">
            <a:avLst/>
          </a:prstGeom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F0C54CF5-FBC2-4A54-46F2-6619AFA1504F}"/>
              </a:ext>
            </a:extLst>
          </p:cNvPr>
          <p:cNvSpPr txBox="1"/>
          <p:nvPr/>
        </p:nvSpPr>
        <p:spPr>
          <a:xfrm>
            <a:off x="3507921" y="1690688"/>
            <a:ext cx="3578680" cy="2283279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INPUT: x0=1, x1=3, max_iterations N=20, tol=1e-5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FOR i FROM 1 TO N DO: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f0 = f(x0)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f1 = f(x1)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IF (f1 - f0) == 0 THEN STOP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x2 = x1 - f1*(x1 - x0)/(f1 - f0)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PRINT "Iteration", i, ": x =", x2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IF ABS(x2 - x1) &lt; tol THEN BREAK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x0 = x1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x1 = x2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 FOR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OUTPUT: x2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2CACC2C9-8711-FD99-FC82-D9C864907AA2}"/>
              </a:ext>
            </a:extLst>
          </p:cNvPr>
          <p:cNvSpPr txBox="1"/>
          <p:nvPr/>
        </p:nvSpPr>
        <p:spPr>
          <a:xfrm>
            <a:off x="7335611" y="1690688"/>
            <a:ext cx="4137929" cy="21336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INPUT: x0=1, x1=3, max_iterations N=20, tol=1e-5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FOR i FROM 1 TO N DO: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f0 = f(x0)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f1 = f(x1)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IF (f1 - f0) == 0 THEN STOP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x2 = x1 - f1*(x1 - x0)/(f1 - f0)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PRINT "Iteration", i, ": x =", x2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IF ABS(x2 - x1) &lt; tol THEN BREAK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x0 = x1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x1 = x2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 FOR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OUTPUT: x2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408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D664-23B4-DC76-C0E6-E792E8DE6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SECANT METHOD EXAMPLE: </a:t>
            </a:r>
            <a:r>
              <a:rPr lang="en-UG" dirty="0"/>
              <a:t>f(x) = x^2 - 4</a:t>
            </a:r>
            <a:br>
              <a:rPr lang="en-UG" dirty="0"/>
            </a:br>
            <a:endParaRPr lang="en-UG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C59A7-3F10-19F2-786E-F04111BA6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44143" cy="4044496"/>
          </a:xfrm>
        </p:spPr>
        <p:txBody>
          <a:bodyPr>
            <a:normAutofit fontScale="47500" lnSpcReduction="20000"/>
          </a:bodyPr>
          <a:lstStyle/>
          <a:p>
            <a:r>
              <a:rPr lang="en-US" sz="2000" b="1" u="sng" dirty="0"/>
              <a:t>MATLAB CODE:FOR LOOP</a:t>
            </a:r>
          </a:p>
          <a:p>
            <a:r>
              <a:rPr lang="en-UG" dirty="0"/>
              <a:t>%% SECTION 2: SECANT METHOD</a:t>
            </a:r>
          </a:p>
          <a:p>
            <a:r>
              <a:rPr lang="en-UG" dirty="0"/>
              <a:t>% Example function: f(x) = x^2 - 4</a:t>
            </a:r>
          </a:p>
          <a:p>
            <a:r>
              <a:rPr lang="en-UG" dirty="0" err="1"/>
              <a:t>f_sec</a:t>
            </a:r>
            <a:r>
              <a:rPr lang="en-UG" dirty="0"/>
              <a:t> = @(x) x^2 - 4;</a:t>
            </a:r>
          </a:p>
          <a:p>
            <a:r>
              <a:rPr lang="en-UG" dirty="0"/>
              <a:t>x0 = 1; x1 = 3;</a:t>
            </a:r>
          </a:p>
          <a:p>
            <a:r>
              <a:rPr lang="en-UG" dirty="0"/>
              <a:t> </a:t>
            </a:r>
          </a:p>
          <a:p>
            <a:r>
              <a:rPr lang="en-UG" dirty="0"/>
              <a:t>% Secant using FOR loop</a:t>
            </a:r>
          </a:p>
          <a:p>
            <a:r>
              <a:rPr lang="en-UG" dirty="0"/>
              <a:t>x_old0 = x0; x_old1 = x1;</a:t>
            </a:r>
          </a:p>
          <a:p>
            <a:r>
              <a:rPr lang="en-UG" dirty="0"/>
              <a:t>for </a:t>
            </a:r>
            <a:r>
              <a:rPr lang="en-UG" dirty="0" err="1"/>
              <a:t>i</a:t>
            </a:r>
            <a:r>
              <a:rPr lang="en-UG" dirty="0"/>
              <a:t> = 1:max_iter</a:t>
            </a:r>
          </a:p>
          <a:p>
            <a:r>
              <a:rPr lang="en-UG" dirty="0"/>
              <a:t>    x2 = x_old1 - </a:t>
            </a:r>
            <a:r>
              <a:rPr lang="en-UG" dirty="0" err="1"/>
              <a:t>f_sec</a:t>
            </a:r>
            <a:r>
              <a:rPr lang="en-UG" dirty="0"/>
              <a:t>(x_old1)*(x_old1 - x_old0)/(</a:t>
            </a:r>
            <a:r>
              <a:rPr lang="en-UG" dirty="0" err="1"/>
              <a:t>f_sec</a:t>
            </a:r>
            <a:r>
              <a:rPr lang="en-UG" dirty="0"/>
              <a:t>(x_old1) - </a:t>
            </a:r>
            <a:r>
              <a:rPr lang="en-UG" dirty="0" err="1"/>
              <a:t>f_sec</a:t>
            </a:r>
            <a:r>
              <a:rPr lang="en-UG" dirty="0"/>
              <a:t>(x_old0));</a:t>
            </a:r>
          </a:p>
          <a:p>
            <a:r>
              <a:rPr lang="en-UG" dirty="0"/>
              <a:t>    x_old0 = x_old1;</a:t>
            </a:r>
          </a:p>
          <a:p>
            <a:r>
              <a:rPr lang="en-UG" dirty="0"/>
              <a:t>    x_old1 = x2;</a:t>
            </a:r>
          </a:p>
          <a:p>
            <a:r>
              <a:rPr lang="en-UG" dirty="0"/>
              <a:t>end</a:t>
            </a:r>
          </a:p>
          <a:p>
            <a:r>
              <a:rPr lang="en-UG" dirty="0" err="1"/>
              <a:t>fprintf</a:t>
            </a:r>
            <a:r>
              <a:rPr lang="en-UG" dirty="0"/>
              <a:t>('Secant (for loop) Root: %.5f\n', x2);</a:t>
            </a:r>
          </a:p>
          <a:p>
            <a:endParaRPr lang="en-UG" sz="1400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CE06-0D8C-BD6B-8723-EB90DBDF6D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1800" b="1" u="sng" dirty="0"/>
              <a:t>MATLAB CODE:WHILE LOOP</a:t>
            </a:r>
          </a:p>
          <a:p>
            <a:r>
              <a:rPr lang="en-UG" dirty="0"/>
              <a:t>% Secant using WHILE loop</a:t>
            </a:r>
          </a:p>
          <a:p>
            <a:r>
              <a:rPr lang="en-UG" dirty="0"/>
              <a:t>x_old0 = x0; x_old1 = x1; err = 1; count = 0;</a:t>
            </a:r>
          </a:p>
          <a:p>
            <a:r>
              <a:rPr lang="en-UG" dirty="0"/>
              <a:t>while err &gt; </a:t>
            </a:r>
            <a:r>
              <a:rPr lang="en-UG" dirty="0" err="1"/>
              <a:t>tol</a:t>
            </a:r>
            <a:r>
              <a:rPr lang="en-UG" dirty="0"/>
              <a:t> &amp;&amp; count &lt; </a:t>
            </a:r>
            <a:r>
              <a:rPr lang="en-UG" dirty="0" err="1"/>
              <a:t>max_iter</a:t>
            </a:r>
            <a:endParaRPr lang="en-UG" dirty="0"/>
          </a:p>
          <a:p>
            <a:r>
              <a:rPr lang="en-UG" dirty="0"/>
              <a:t>    x2 = x_old1 - </a:t>
            </a:r>
            <a:r>
              <a:rPr lang="en-UG" dirty="0" err="1"/>
              <a:t>f_sec</a:t>
            </a:r>
            <a:r>
              <a:rPr lang="en-UG" dirty="0"/>
              <a:t>(x_old1)*(x_old1 - x_old0)/(</a:t>
            </a:r>
            <a:r>
              <a:rPr lang="en-UG" dirty="0" err="1"/>
              <a:t>f_sec</a:t>
            </a:r>
            <a:r>
              <a:rPr lang="en-UG" dirty="0"/>
              <a:t>(x_old1) - </a:t>
            </a:r>
            <a:r>
              <a:rPr lang="en-UG" dirty="0" err="1"/>
              <a:t>f_sec</a:t>
            </a:r>
            <a:r>
              <a:rPr lang="en-UG" dirty="0"/>
              <a:t>(x_old0));</a:t>
            </a:r>
          </a:p>
          <a:p>
            <a:r>
              <a:rPr lang="en-UG" dirty="0"/>
              <a:t>    err = abs(x2 - x_old1);</a:t>
            </a:r>
          </a:p>
          <a:p>
            <a:r>
              <a:rPr lang="en-UG" dirty="0"/>
              <a:t>    x_old0 = x_old1;</a:t>
            </a:r>
          </a:p>
          <a:p>
            <a:r>
              <a:rPr lang="en-UG" dirty="0"/>
              <a:t>    x_old1 = x2;</a:t>
            </a:r>
          </a:p>
          <a:p>
            <a:r>
              <a:rPr lang="en-UG" dirty="0"/>
              <a:t>    count = count + 1;</a:t>
            </a:r>
          </a:p>
          <a:p>
            <a:r>
              <a:rPr lang="en-UG" dirty="0"/>
              <a:t>end</a:t>
            </a:r>
          </a:p>
          <a:p>
            <a:r>
              <a:rPr lang="en-UG" dirty="0" err="1"/>
              <a:t>fprintf</a:t>
            </a:r>
            <a:r>
              <a:rPr lang="en-UG" dirty="0"/>
              <a:t>('Secant (while loop) Root: %.5f in %d iterations\n\n', x2, count);</a:t>
            </a:r>
          </a:p>
          <a:p>
            <a:endParaRPr lang="en-UG" sz="18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415A4-8BB4-EA7A-A8E6-4BA6B7851C3F}"/>
              </a:ext>
            </a:extLst>
          </p:cNvPr>
          <p:cNvSpPr txBox="1"/>
          <p:nvPr/>
        </p:nvSpPr>
        <p:spPr>
          <a:xfrm>
            <a:off x="955221" y="6049736"/>
            <a:ext cx="7209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G" dirty="0"/>
              <a:t>Result: Converged in 6 iterations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449107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DFFCE-1F39-F901-FDEB-C8409913C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G" b="1" u="sng" dirty="0"/>
              <a:t>RUNGE-KUTTA (4th ORDER) METHOD</a:t>
            </a:r>
            <a:br>
              <a:rPr lang="en-UG" dirty="0"/>
            </a:br>
            <a:endParaRPr lang="en-U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11388-B734-0B0E-7CA2-E1C3FA9E4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14701" y="1445079"/>
            <a:ext cx="8039099" cy="4731884"/>
          </a:xfrm>
        </p:spPr>
        <p:txBody>
          <a:bodyPr/>
          <a:lstStyle/>
          <a:p>
            <a:r>
              <a:rPr lang="en-UG" sz="1200" b="1" dirty="0"/>
              <a:t>Formula: y(i+1) = y(</a:t>
            </a:r>
            <a:r>
              <a:rPr lang="en-UG" sz="1200" b="1" dirty="0" err="1"/>
              <a:t>i</a:t>
            </a:r>
            <a:r>
              <a:rPr lang="en-UG" sz="1200" b="1" dirty="0"/>
              <a:t>) + (h/6)(k1 + 2k2 + 2k3 + k4)</a:t>
            </a:r>
            <a:endParaRPr lang="en-UG" sz="1200" dirty="0"/>
          </a:p>
          <a:p>
            <a:r>
              <a:rPr lang="en-US" sz="1200" b="1" u="sng" dirty="0"/>
              <a:t>PSEUDOCODE:FOR LOOP                                               PSEUDOCODE: WHILE LOOP:</a:t>
            </a:r>
          </a:p>
          <a:p>
            <a:endParaRPr lang="en-UG" sz="1200" b="1" u="sng" dirty="0"/>
          </a:p>
        </p:txBody>
      </p:sp>
      <p:pic>
        <p:nvPicPr>
          <p:cNvPr id="5" name="fc1" descr="Runge-Kutta (4th Order) Method flowchart" title="Flowchart">
            <a:extLst>
              <a:ext uri="{FF2B5EF4-FFF2-40B4-BE49-F238E27FC236}">
                <a16:creationId xmlns:a16="http://schemas.microsoft.com/office/drawing/2014/main" id="{B1D6811F-0BEB-42EC-28A1-DB4EE493F3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9037" y="1825625"/>
            <a:ext cx="2865664" cy="3856868"/>
          </a:xfrm>
          <a:prstGeom prst="rect">
            <a:avLst/>
          </a:prstGeom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E5B8B4FA-3418-C188-5C4B-C736CDFB73DE}"/>
              </a:ext>
            </a:extLst>
          </p:cNvPr>
          <p:cNvSpPr txBox="1"/>
          <p:nvPr/>
        </p:nvSpPr>
        <p:spPr>
          <a:xfrm>
            <a:off x="3443060" y="2079397"/>
            <a:ext cx="3382283" cy="2187121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INPUT: x0=0, y0=1, h=0.1, xn=0.5, N=5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SET x = x0, y = y0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FOR i FROM 1 TO N DO: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k1 = f(x, y)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k2 = f(x + h/2, y + h*k1/2)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k3 = f(x + h/2, y + h*k2/2)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k4 = f(x + h, y + h*k3)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y = y + (h/6)*(k1 + 2*k2 + 2*k3 + k4)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x = x + h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PRINT x, y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 FOR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OUTPUT: y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1918C737-2579-7EA0-567D-8FC5E5BE9881}"/>
              </a:ext>
            </a:extLst>
          </p:cNvPr>
          <p:cNvSpPr txBox="1"/>
          <p:nvPr/>
        </p:nvSpPr>
        <p:spPr>
          <a:xfrm>
            <a:off x="7484155" y="1948768"/>
            <a:ext cx="3635377" cy="231775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INPUT: x0=0, y0=1, h=0.1, xn=0.5, N=5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SET x = x0, y = y0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FOR i FROM 1 TO N DO: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k1 = f(x, y)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k2 = f(x + h/2, y + h*k1/2)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k3 = f(x + h/2, y + h*k2/2)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k4 = f(x + h, y + h*k3)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y = y + (h/6)*(k1 + 2*k2 + 2*k3 + k4)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x = x + h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    PRINT x, y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END FOR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UG" sz="1000">
                <a:effectLst/>
                <a:latin typeface="Consolas" panose="020B0609020204030204" pitchFamily="49" charset="0"/>
                <a:ea typeface="Yu Gothic Medium" panose="020B0500000000000000" pitchFamily="34" charset="-128"/>
                <a:cs typeface="Times New Roman" panose="02020603050405020304" pitchFamily="18" charset="0"/>
              </a:rPr>
              <a:t>OUTPUT: y</a:t>
            </a:r>
            <a:endParaRPr lang="en-UG" sz="1050">
              <a:effectLst/>
              <a:latin typeface="Helvetica" panose="020B0604020202020204" pitchFamily="34" charset="0"/>
              <a:ea typeface="Yu Gothic Medium" panose="020B05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901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BDFFA-2641-3DE8-CE20-27A9C5CBD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EXAMPLE: </a:t>
            </a:r>
            <a:r>
              <a:rPr lang="en-UG" dirty="0"/>
              <a:t>: </a:t>
            </a:r>
            <a:r>
              <a:rPr lang="en-UG" sz="1800" dirty="0" err="1"/>
              <a:t>dy</a:t>
            </a:r>
            <a:r>
              <a:rPr lang="en-UG" sz="1800" dirty="0"/>
              <a:t>/dx = x + y, y(0) = 1</a:t>
            </a:r>
            <a:br>
              <a:rPr lang="en-UG" sz="1800" dirty="0"/>
            </a:br>
            <a:endParaRPr lang="en-UG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6EB7E-B24F-CE7A-4EEF-687115D14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8529" y="1229903"/>
            <a:ext cx="4574457" cy="4984084"/>
          </a:xfrm>
        </p:spPr>
        <p:txBody>
          <a:bodyPr>
            <a:noAutofit/>
          </a:bodyPr>
          <a:lstStyle/>
          <a:p>
            <a:r>
              <a:rPr lang="en-US" sz="1100" b="1" u="sng" dirty="0"/>
              <a:t>MATLAB CODE:FOR LOOP</a:t>
            </a:r>
          </a:p>
          <a:p>
            <a:r>
              <a:rPr lang="en-UG" sz="1100" dirty="0"/>
              <a:t>%% SECTION 3: RUNGE-KUTTA 4TH ORDER (RK4)</a:t>
            </a:r>
          </a:p>
          <a:p>
            <a:r>
              <a:rPr lang="en-UG" sz="1100" dirty="0"/>
              <a:t>% Example ODE: </a:t>
            </a:r>
            <a:r>
              <a:rPr lang="en-UG" sz="1100" dirty="0" err="1"/>
              <a:t>dy</a:t>
            </a:r>
            <a:r>
              <a:rPr lang="en-UG" sz="1100" dirty="0"/>
              <a:t>/dx = x + y, y(0) = 1</a:t>
            </a:r>
          </a:p>
          <a:p>
            <a:r>
              <a:rPr lang="en-UG" sz="1100" dirty="0" err="1"/>
              <a:t>f_rk</a:t>
            </a:r>
            <a:r>
              <a:rPr lang="en-UG" sz="1100" dirty="0"/>
              <a:t> = @(x, y) x + y;</a:t>
            </a:r>
          </a:p>
          <a:p>
            <a:r>
              <a:rPr lang="en-UG" sz="1100" dirty="0"/>
              <a:t>x0 = 0; y0 = 1; </a:t>
            </a:r>
            <a:r>
              <a:rPr lang="en-UG" sz="1100" dirty="0" err="1"/>
              <a:t>x_end</a:t>
            </a:r>
            <a:r>
              <a:rPr lang="en-UG" sz="1100" dirty="0"/>
              <a:t> = 1; h = 0.1;</a:t>
            </a:r>
          </a:p>
          <a:p>
            <a:r>
              <a:rPr lang="en-UG" sz="1100" dirty="0"/>
              <a:t>N = (</a:t>
            </a:r>
            <a:r>
              <a:rPr lang="en-UG" sz="1100" dirty="0" err="1"/>
              <a:t>x_end</a:t>
            </a:r>
            <a:r>
              <a:rPr lang="en-UG" sz="1100" dirty="0"/>
              <a:t> - x0)/h;</a:t>
            </a:r>
          </a:p>
          <a:p>
            <a:r>
              <a:rPr lang="en-UG" sz="1100" dirty="0"/>
              <a:t> </a:t>
            </a:r>
          </a:p>
          <a:p>
            <a:r>
              <a:rPr lang="en-UG" sz="1100" dirty="0"/>
              <a:t>% RK4 using FOR loop</a:t>
            </a:r>
          </a:p>
          <a:p>
            <a:r>
              <a:rPr lang="en-UG" sz="1100" dirty="0" err="1"/>
              <a:t>x_curr</a:t>
            </a:r>
            <a:r>
              <a:rPr lang="en-UG" sz="1100" dirty="0"/>
              <a:t> = x0; </a:t>
            </a:r>
            <a:r>
              <a:rPr lang="en-UG" sz="1100" dirty="0" err="1"/>
              <a:t>y_curr</a:t>
            </a:r>
            <a:r>
              <a:rPr lang="en-UG" sz="1100" dirty="0"/>
              <a:t> = y0;</a:t>
            </a:r>
          </a:p>
          <a:p>
            <a:r>
              <a:rPr lang="en-UG" sz="1100" dirty="0"/>
              <a:t>for </a:t>
            </a:r>
            <a:r>
              <a:rPr lang="en-UG" sz="1100" dirty="0" err="1"/>
              <a:t>i</a:t>
            </a:r>
            <a:r>
              <a:rPr lang="en-UG" sz="1100" dirty="0"/>
              <a:t> = 1:N</a:t>
            </a:r>
          </a:p>
          <a:p>
            <a:r>
              <a:rPr lang="en-UG" sz="1100" dirty="0"/>
              <a:t>    k1 = h * </a:t>
            </a:r>
            <a:r>
              <a:rPr lang="en-UG" sz="1100" dirty="0" err="1"/>
              <a:t>f_rk</a:t>
            </a:r>
            <a:r>
              <a:rPr lang="en-UG" sz="1100" dirty="0"/>
              <a:t>(</a:t>
            </a:r>
            <a:r>
              <a:rPr lang="en-UG" sz="1100" dirty="0" err="1"/>
              <a:t>x_curr</a:t>
            </a:r>
            <a:r>
              <a:rPr lang="en-UG" sz="1100" dirty="0"/>
              <a:t>, </a:t>
            </a:r>
            <a:r>
              <a:rPr lang="en-UG" sz="1100" dirty="0" err="1"/>
              <a:t>y_curr</a:t>
            </a:r>
            <a:r>
              <a:rPr lang="en-UG" sz="1100" dirty="0"/>
              <a:t>);</a:t>
            </a:r>
          </a:p>
          <a:p>
            <a:r>
              <a:rPr lang="en-UG" sz="1100" dirty="0"/>
              <a:t>    k2 = h * </a:t>
            </a:r>
            <a:r>
              <a:rPr lang="en-UG" sz="1100" dirty="0" err="1"/>
              <a:t>f_rk</a:t>
            </a:r>
            <a:r>
              <a:rPr lang="en-UG" sz="1100" dirty="0"/>
              <a:t>(</a:t>
            </a:r>
            <a:r>
              <a:rPr lang="en-UG" sz="1100" dirty="0" err="1"/>
              <a:t>x_curr</a:t>
            </a:r>
            <a:r>
              <a:rPr lang="en-UG" sz="1100" dirty="0"/>
              <a:t> + h/2, </a:t>
            </a:r>
            <a:r>
              <a:rPr lang="en-UG" sz="1100" dirty="0" err="1"/>
              <a:t>y_curr</a:t>
            </a:r>
            <a:r>
              <a:rPr lang="en-UG" sz="1100" dirty="0"/>
              <a:t> + k1/2);</a:t>
            </a:r>
          </a:p>
          <a:p>
            <a:r>
              <a:rPr lang="en-UG" sz="1100" dirty="0"/>
              <a:t>    k3 = h * </a:t>
            </a:r>
            <a:r>
              <a:rPr lang="en-UG" sz="1100" dirty="0" err="1"/>
              <a:t>f_rk</a:t>
            </a:r>
            <a:r>
              <a:rPr lang="en-UG" sz="1100" dirty="0"/>
              <a:t>(</a:t>
            </a:r>
            <a:r>
              <a:rPr lang="en-UG" sz="1100" dirty="0" err="1"/>
              <a:t>x_curr</a:t>
            </a:r>
            <a:r>
              <a:rPr lang="en-UG" sz="1100" dirty="0"/>
              <a:t> + h/2, </a:t>
            </a:r>
            <a:r>
              <a:rPr lang="en-UG" sz="1100" dirty="0" err="1"/>
              <a:t>y_curr</a:t>
            </a:r>
            <a:r>
              <a:rPr lang="en-UG" sz="1100" dirty="0"/>
              <a:t> + k2/2);</a:t>
            </a:r>
          </a:p>
          <a:p>
            <a:r>
              <a:rPr lang="en-UG" sz="1100" dirty="0"/>
              <a:t>    k4 = h * </a:t>
            </a:r>
            <a:r>
              <a:rPr lang="en-UG" sz="1100" dirty="0" err="1"/>
              <a:t>f_rk</a:t>
            </a:r>
            <a:r>
              <a:rPr lang="en-UG" sz="1100" dirty="0"/>
              <a:t>(</a:t>
            </a:r>
            <a:r>
              <a:rPr lang="en-UG" sz="1100" dirty="0" err="1"/>
              <a:t>x_curr</a:t>
            </a:r>
            <a:r>
              <a:rPr lang="en-UG" sz="1100" dirty="0"/>
              <a:t> + h, </a:t>
            </a:r>
            <a:r>
              <a:rPr lang="en-UG" sz="1100" dirty="0" err="1"/>
              <a:t>y_curr</a:t>
            </a:r>
            <a:r>
              <a:rPr lang="en-UG" sz="1100" dirty="0"/>
              <a:t> + k3);</a:t>
            </a:r>
          </a:p>
          <a:p>
            <a:r>
              <a:rPr lang="en-UG" sz="1100" dirty="0"/>
              <a:t>    </a:t>
            </a:r>
            <a:r>
              <a:rPr lang="en-UG" sz="1100" dirty="0" err="1"/>
              <a:t>y_curr</a:t>
            </a:r>
            <a:r>
              <a:rPr lang="en-UG" sz="1100" dirty="0"/>
              <a:t> = </a:t>
            </a:r>
            <a:r>
              <a:rPr lang="en-UG" sz="1100" dirty="0" err="1"/>
              <a:t>y_curr</a:t>
            </a:r>
            <a:r>
              <a:rPr lang="en-UG" sz="1100" dirty="0"/>
              <a:t> + (k1 + 2*k2 + 2*k3 + k4)/6;</a:t>
            </a:r>
          </a:p>
          <a:p>
            <a:r>
              <a:rPr lang="en-UG" sz="1100" dirty="0"/>
              <a:t>    </a:t>
            </a:r>
            <a:r>
              <a:rPr lang="en-UG" sz="1100" dirty="0" err="1"/>
              <a:t>x_curr</a:t>
            </a:r>
            <a:r>
              <a:rPr lang="en-UG" sz="1100" dirty="0"/>
              <a:t> = </a:t>
            </a:r>
            <a:r>
              <a:rPr lang="en-UG" sz="1100" dirty="0" err="1"/>
              <a:t>x_curr</a:t>
            </a:r>
            <a:r>
              <a:rPr lang="en-UG" sz="1100" dirty="0"/>
              <a:t> + h;</a:t>
            </a:r>
          </a:p>
          <a:p>
            <a:r>
              <a:rPr lang="en-UG" sz="1100" dirty="0"/>
              <a:t>end</a:t>
            </a:r>
          </a:p>
          <a:p>
            <a:r>
              <a:rPr lang="en-UG" sz="1100" dirty="0" err="1"/>
              <a:t>fprintf</a:t>
            </a:r>
            <a:r>
              <a:rPr lang="en-UG" sz="1100" dirty="0"/>
              <a:t>('RK4 (for loop) y(1): %.5f\n', </a:t>
            </a:r>
            <a:r>
              <a:rPr lang="en-UG" sz="1100" dirty="0" err="1"/>
              <a:t>y_curr</a:t>
            </a:r>
            <a:r>
              <a:rPr lang="en-UG" sz="1100" dirty="0"/>
              <a:t>);</a:t>
            </a:r>
          </a:p>
          <a:p>
            <a:endParaRPr lang="en-UG" sz="1100" b="1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5B9DD-DBE2-1668-D27D-9EDB7CB6C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7948" y="1825625"/>
            <a:ext cx="4785852" cy="2884027"/>
          </a:xfrm>
        </p:spPr>
        <p:txBody>
          <a:bodyPr>
            <a:normAutofit fontScale="40000" lnSpcReduction="20000"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 CODE:WHILE LOOP</a:t>
            </a:r>
          </a:p>
          <a:p>
            <a:r>
              <a:rPr lang="en-UG" sz="3700" dirty="0"/>
              <a:t>% RK4 using WHILE loop</a:t>
            </a:r>
          </a:p>
          <a:p>
            <a:r>
              <a:rPr lang="en-UG" sz="3700" dirty="0" err="1"/>
              <a:t>x_curr</a:t>
            </a:r>
            <a:r>
              <a:rPr lang="en-UG" sz="3700" dirty="0"/>
              <a:t> = x0; </a:t>
            </a:r>
            <a:r>
              <a:rPr lang="en-UG" sz="3700" dirty="0" err="1"/>
              <a:t>y_curr</a:t>
            </a:r>
            <a:r>
              <a:rPr lang="en-UG" sz="3700" dirty="0"/>
              <a:t> = y0;</a:t>
            </a:r>
          </a:p>
          <a:p>
            <a:r>
              <a:rPr lang="en-UG" sz="3700" dirty="0"/>
              <a:t>while </a:t>
            </a:r>
            <a:r>
              <a:rPr lang="en-UG" sz="3700" dirty="0" err="1"/>
              <a:t>x_curr</a:t>
            </a:r>
            <a:r>
              <a:rPr lang="en-UG" sz="3700" dirty="0"/>
              <a:t> &lt; </a:t>
            </a:r>
            <a:r>
              <a:rPr lang="en-UG" sz="3700" dirty="0" err="1"/>
              <a:t>x_end</a:t>
            </a:r>
            <a:endParaRPr lang="en-UG" sz="3700" dirty="0"/>
          </a:p>
          <a:p>
            <a:r>
              <a:rPr lang="en-UG" sz="3700" dirty="0"/>
              <a:t>    k1 = h * </a:t>
            </a:r>
            <a:r>
              <a:rPr lang="en-UG" sz="3700" dirty="0" err="1"/>
              <a:t>f_rk</a:t>
            </a:r>
            <a:r>
              <a:rPr lang="en-UG" sz="3700" dirty="0"/>
              <a:t>(</a:t>
            </a:r>
            <a:r>
              <a:rPr lang="en-UG" sz="3700" dirty="0" err="1"/>
              <a:t>x_curr</a:t>
            </a:r>
            <a:r>
              <a:rPr lang="en-UG" sz="3700" dirty="0"/>
              <a:t>, </a:t>
            </a:r>
            <a:r>
              <a:rPr lang="en-UG" sz="3700" dirty="0" err="1"/>
              <a:t>y_curr</a:t>
            </a:r>
            <a:r>
              <a:rPr lang="en-UG" sz="3700" dirty="0"/>
              <a:t>);</a:t>
            </a:r>
          </a:p>
          <a:p>
            <a:r>
              <a:rPr lang="en-UG" sz="3700" dirty="0"/>
              <a:t>    k2 = h * </a:t>
            </a:r>
            <a:r>
              <a:rPr lang="en-UG" sz="3700" dirty="0" err="1"/>
              <a:t>f_rk</a:t>
            </a:r>
            <a:r>
              <a:rPr lang="en-UG" sz="3700" dirty="0"/>
              <a:t>(</a:t>
            </a:r>
            <a:r>
              <a:rPr lang="en-UG" sz="3700" dirty="0" err="1"/>
              <a:t>x_curr</a:t>
            </a:r>
            <a:r>
              <a:rPr lang="en-UG" sz="3700" dirty="0"/>
              <a:t> + h/2, </a:t>
            </a:r>
            <a:r>
              <a:rPr lang="en-UG" sz="3700" dirty="0" err="1"/>
              <a:t>y_curr</a:t>
            </a:r>
            <a:r>
              <a:rPr lang="en-UG" sz="3700" dirty="0"/>
              <a:t> + k1/2);</a:t>
            </a:r>
          </a:p>
          <a:p>
            <a:r>
              <a:rPr lang="en-UG" sz="3700" dirty="0"/>
              <a:t>    k3 = h * </a:t>
            </a:r>
            <a:r>
              <a:rPr lang="en-UG" sz="3700" dirty="0" err="1"/>
              <a:t>f_rk</a:t>
            </a:r>
            <a:r>
              <a:rPr lang="en-UG" sz="3700" dirty="0"/>
              <a:t>(</a:t>
            </a:r>
            <a:r>
              <a:rPr lang="en-UG" sz="3700" dirty="0" err="1"/>
              <a:t>x_curr</a:t>
            </a:r>
            <a:r>
              <a:rPr lang="en-UG" sz="3700" dirty="0"/>
              <a:t> + h/2, </a:t>
            </a:r>
            <a:r>
              <a:rPr lang="en-UG" sz="3700" dirty="0" err="1"/>
              <a:t>y_curr</a:t>
            </a:r>
            <a:r>
              <a:rPr lang="en-UG" sz="3700" dirty="0"/>
              <a:t> + k2/2);</a:t>
            </a:r>
          </a:p>
          <a:p>
            <a:r>
              <a:rPr lang="en-UG" sz="3700" dirty="0"/>
              <a:t>    k4 = h * </a:t>
            </a:r>
            <a:r>
              <a:rPr lang="en-UG" sz="3700" dirty="0" err="1"/>
              <a:t>f_rk</a:t>
            </a:r>
            <a:r>
              <a:rPr lang="en-UG" sz="3700" dirty="0"/>
              <a:t>(</a:t>
            </a:r>
            <a:r>
              <a:rPr lang="en-UG" sz="3700" dirty="0" err="1"/>
              <a:t>x_curr</a:t>
            </a:r>
            <a:r>
              <a:rPr lang="en-UG" sz="3700" dirty="0"/>
              <a:t> + h, </a:t>
            </a:r>
            <a:r>
              <a:rPr lang="en-UG" sz="3700" dirty="0" err="1"/>
              <a:t>y_curr</a:t>
            </a:r>
            <a:r>
              <a:rPr lang="en-UG" sz="3700" dirty="0"/>
              <a:t> + k3);</a:t>
            </a:r>
          </a:p>
          <a:p>
            <a:r>
              <a:rPr lang="en-UG" sz="3700" dirty="0"/>
              <a:t>    </a:t>
            </a:r>
            <a:r>
              <a:rPr lang="en-UG" sz="3700" dirty="0" err="1"/>
              <a:t>y_curr</a:t>
            </a:r>
            <a:r>
              <a:rPr lang="en-UG" sz="3700" dirty="0"/>
              <a:t> = </a:t>
            </a:r>
            <a:r>
              <a:rPr lang="en-UG" sz="3700" dirty="0" err="1"/>
              <a:t>y_curr</a:t>
            </a:r>
            <a:r>
              <a:rPr lang="en-UG" sz="3700" dirty="0"/>
              <a:t> + (k1 + 2*k2 + 2*k3 + k4)/6;</a:t>
            </a:r>
          </a:p>
          <a:p>
            <a:r>
              <a:rPr lang="en-UG" sz="3700" dirty="0"/>
              <a:t>    </a:t>
            </a:r>
            <a:r>
              <a:rPr lang="en-UG" sz="3700" dirty="0" err="1"/>
              <a:t>x_curr</a:t>
            </a:r>
            <a:r>
              <a:rPr lang="en-UG" sz="3700" dirty="0"/>
              <a:t> = </a:t>
            </a:r>
            <a:r>
              <a:rPr lang="en-UG" sz="3700" dirty="0" err="1"/>
              <a:t>x_curr</a:t>
            </a:r>
            <a:r>
              <a:rPr lang="en-UG" sz="3700" dirty="0"/>
              <a:t> + h;</a:t>
            </a:r>
          </a:p>
          <a:p>
            <a:endParaRPr lang="en-UG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25C29-5BE3-57F8-EB27-E0000EFECA3B}"/>
              </a:ext>
            </a:extLst>
          </p:cNvPr>
          <p:cNvSpPr txBox="1"/>
          <p:nvPr/>
        </p:nvSpPr>
        <p:spPr>
          <a:xfrm>
            <a:off x="1327355" y="6263148"/>
            <a:ext cx="4159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G" dirty="0"/>
              <a:t>Result: At x=0.5, y=1.797441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858332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1850</Words>
  <Application>Microsoft Office PowerPoint</Application>
  <PresentationFormat>Widescreen</PresentationFormat>
  <Paragraphs>172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Helvetica</vt:lpstr>
      <vt:lpstr>Times New Roman</vt:lpstr>
      <vt:lpstr>Office Theme</vt:lpstr>
      <vt:lpstr>MATLAB ASSIGNMENT   </vt:lpstr>
      <vt:lpstr>NEWTON-RAPHSON METHOD </vt:lpstr>
      <vt:lpstr>NEWTON-RAPHSON METHOD EXAMPLE1: : f(x) = x^2 - 4, f'(x) = 2x </vt:lpstr>
      <vt:lpstr>SECANT METHOD </vt:lpstr>
      <vt:lpstr>SECANT METHOD EXAMPLE: f(x) = x^2 - 4 </vt:lpstr>
      <vt:lpstr>RUNGE-KUTTA (4th ORDER) METHOD </vt:lpstr>
      <vt:lpstr>EXAMPLE: : dy/dx = x + y, y(0) = 1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Tracy Kanyago</dc:creator>
  <cp:lastModifiedBy>Tracy Kanyago</cp:lastModifiedBy>
  <cp:revision>3</cp:revision>
  <dcterms:created xsi:type="dcterms:W3CDTF">2026-09-29T14:32:12Z</dcterms:created>
  <dcterms:modified xsi:type="dcterms:W3CDTF">2026-09-29T15:04:55Z</dcterms:modified>
</cp:coreProperties>
</file>